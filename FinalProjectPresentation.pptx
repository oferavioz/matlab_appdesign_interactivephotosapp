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19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A7E6"/>
    <a:srgbClr val="F98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2"/>
    <p:restoredTop sz="91912"/>
  </p:normalViewPr>
  <p:slideViewPr>
    <p:cSldViewPr snapToGrid="0">
      <p:cViewPr varScale="1">
        <p:scale>
          <a:sx n="108" d="100"/>
          <a:sy n="108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0355EB-160E-664B-A082-088002E1D1EC}" type="doc">
      <dgm:prSet loTypeId="urn:microsoft.com/office/officeart/2005/8/layout/process1" loCatId="" qsTypeId="urn:microsoft.com/office/officeart/2005/8/quickstyle/simple2" qsCatId="simple" csTypeId="urn:microsoft.com/office/officeart/2005/8/colors/accent3_2" csCatId="accent3" phldr="1"/>
      <dgm:spPr/>
    </dgm:pt>
    <dgm:pt modelId="{9DDDB8CA-B222-6646-91B4-05EF55210F29}">
      <dgm:prSet phldrT="[Text]" custT="1"/>
      <dgm:spPr/>
      <dgm:t>
        <a:bodyPr/>
        <a:lstStyle/>
        <a:p>
          <a:pPr rtl="1"/>
          <a:r>
            <a:rPr lang="he-IL" sz="2400" dirty="0">
              <a:latin typeface="Aharoni" panose="02010803020104030203" pitchFamily="2" charset="-79"/>
              <a:cs typeface="Aharoni" panose="02010803020104030203" pitchFamily="2" charset="-79"/>
            </a:rPr>
            <a:t>עיצוב ובניית הממשק לפי הפרמטרים אותם נדרשנו לממש</a:t>
          </a:r>
          <a:endParaRPr lang="en-US" sz="2400" dirty="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2A1B3798-D3D6-A244-A2ED-C3C9B14E5CEC}" type="parTrans" cxnId="{1307E5C3-6160-C84A-B486-E990B6A153CC}">
      <dgm:prSet/>
      <dgm:spPr/>
      <dgm:t>
        <a:bodyPr/>
        <a:lstStyle/>
        <a:p>
          <a:endParaRPr lang="en-US"/>
        </a:p>
      </dgm:t>
    </dgm:pt>
    <dgm:pt modelId="{7FB8B587-28F6-5B45-B69F-65D0A31FFCA2}" type="sibTrans" cxnId="{1307E5C3-6160-C84A-B486-E990B6A153CC}">
      <dgm:prSet/>
      <dgm:spPr/>
      <dgm:t>
        <a:bodyPr/>
        <a:lstStyle/>
        <a:p>
          <a:pPr rtl="0"/>
          <a:endParaRPr lang="en-US"/>
        </a:p>
      </dgm:t>
    </dgm:pt>
    <dgm:pt modelId="{E5AB8E8C-5AC0-E34E-8578-1EF611A163B1}">
      <dgm:prSet phldrT="[Text]" custT="1"/>
      <dgm:spPr/>
      <dgm:t>
        <a:bodyPr/>
        <a:lstStyle/>
        <a:p>
          <a:pPr rtl="1"/>
          <a:r>
            <a:rPr lang="he-IL" sz="2400" dirty="0">
              <a:latin typeface="Aharoni" panose="02010803020104030203" pitchFamily="2" charset="-79"/>
              <a:cs typeface="Aharoni" panose="02010803020104030203" pitchFamily="2" charset="-79"/>
            </a:rPr>
            <a:t>תכנון נגישות ומימוש הממשק</a:t>
          </a:r>
          <a:endParaRPr lang="en-US" sz="2400" dirty="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314161AD-2300-5A4C-BD66-F22D16B30EC2}" type="parTrans" cxnId="{F7F7CE64-55F6-124A-AD49-846D95337DE2}">
      <dgm:prSet/>
      <dgm:spPr/>
      <dgm:t>
        <a:bodyPr/>
        <a:lstStyle/>
        <a:p>
          <a:endParaRPr lang="en-US"/>
        </a:p>
      </dgm:t>
    </dgm:pt>
    <dgm:pt modelId="{0A385857-A6C1-6146-BC05-A0F55B8E38C4}" type="sibTrans" cxnId="{F7F7CE64-55F6-124A-AD49-846D95337DE2}">
      <dgm:prSet/>
      <dgm:spPr/>
      <dgm:t>
        <a:bodyPr/>
        <a:lstStyle/>
        <a:p>
          <a:pPr rtl="1"/>
          <a:endParaRPr lang="en-US"/>
        </a:p>
      </dgm:t>
    </dgm:pt>
    <dgm:pt modelId="{1593815E-435D-BD40-BC49-8DD690EBC3BD}">
      <dgm:prSet phldrT="[Text]" custT="1"/>
      <dgm:spPr/>
      <dgm:t>
        <a:bodyPr/>
        <a:lstStyle/>
        <a:p>
          <a:pPr rtl="1"/>
          <a:r>
            <a:rPr lang="he-IL" sz="2400" dirty="0">
              <a:latin typeface="Aharoni" panose="02010803020104030203" pitchFamily="2" charset="-79"/>
              <a:cs typeface="Aharoni" panose="02010803020104030203" pitchFamily="2" charset="-79"/>
            </a:rPr>
            <a:t>כתיבת קוד הממשק – החל מהגדרת הפרמטרים, כתיבת פונקציות המעטפת ומימוש פונקציות השינויים הרלוונטיים</a:t>
          </a:r>
          <a:endParaRPr lang="en-US" sz="2400" dirty="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0D45AECF-EB46-DA4C-BD83-E2859CD13B92}" type="parTrans" cxnId="{3ECE9963-6A0C-0F45-A6FB-3B2AA647F16F}">
      <dgm:prSet/>
      <dgm:spPr/>
      <dgm:t>
        <a:bodyPr/>
        <a:lstStyle/>
        <a:p>
          <a:endParaRPr lang="en-US"/>
        </a:p>
      </dgm:t>
    </dgm:pt>
    <dgm:pt modelId="{DAE93486-AC8B-4347-9362-80F7D460B566}" type="sibTrans" cxnId="{3ECE9963-6A0C-0F45-A6FB-3B2AA647F16F}">
      <dgm:prSet/>
      <dgm:spPr/>
      <dgm:t>
        <a:bodyPr/>
        <a:lstStyle/>
        <a:p>
          <a:endParaRPr lang="en-US"/>
        </a:p>
      </dgm:t>
    </dgm:pt>
    <dgm:pt modelId="{AB9A4751-0F7B-EA43-B12B-F59398FC7B98}" type="pres">
      <dgm:prSet presAssocID="{840355EB-160E-664B-A082-088002E1D1EC}" presName="Name0" presStyleCnt="0">
        <dgm:presLayoutVars>
          <dgm:dir val="rev"/>
          <dgm:resizeHandles val="exact"/>
        </dgm:presLayoutVars>
      </dgm:prSet>
      <dgm:spPr/>
    </dgm:pt>
    <dgm:pt modelId="{B8F4FC52-647F-E148-8C09-E58035AEB7BB}" type="pres">
      <dgm:prSet presAssocID="{E5AB8E8C-5AC0-E34E-8578-1EF611A163B1}" presName="node" presStyleLbl="node1" presStyleIdx="0" presStyleCnt="3">
        <dgm:presLayoutVars>
          <dgm:bulletEnabled val="1"/>
        </dgm:presLayoutVars>
      </dgm:prSet>
      <dgm:spPr/>
    </dgm:pt>
    <dgm:pt modelId="{06E9D0A4-C24B-2A42-AF0F-E61C097CA79D}" type="pres">
      <dgm:prSet presAssocID="{0A385857-A6C1-6146-BC05-A0F55B8E38C4}" presName="sibTrans" presStyleLbl="sibTrans2D1" presStyleIdx="0" presStyleCnt="2"/>
      <dgm:spPr/>
    </dgm:pt>
    <dgm:pt modelId="{1FBDCBF2-5F3B-C243-8484-27644FE4C465}" type="pres">
      <dgm:prSet presAssocID="{0A385857-A6C1-6146-BC05-A0F55B8E38C4}" presName="connectorText" presStyleLbl="sibTrans2D1" presStyleIdx="0" presStyleCnt="2"/>
      <dgm:spPr/>
    </dgm:pt>
    <dgm:pt modelId="{382A8D5A-2DB1-9744-A903-A6C3DE603FB9}" type="pres">
      <dgm:prSet presAssocID="{9DDDB8CA-B222-6646-91B4-05EF55210F29}" presName="node" presStyleLbl="node1" presStyleIdx="1" presStyleCnt="3">
        <dgm:presLayoutVars>
          <dgm:bulletEnabled val="1"/>
        </dgm:presLayoutVars>
      </dgm:prSet>
      <dgm:spPr/>
    </dgm:pt>
    <dgm:pt modelId="{03BF7104-CEB0-304F-96CD-CE74C058809B}" type="pres">
      <dgm:prSet presAssocID="{7FB8B587-28F6-5B45-B69F-65D0A31FFCA2}" presName="sibTrans" presStyleLbl="sibTrans2D1" presStyleIdx="1" presStyleCnt="2"/>
      <dgm:spPr/>
    </dgm:pt>
    <dgm:pt modelId="{AA466034-57C3-A541-A083-F2186881285C}" type="pres">
      <dgm:prSet presAssocID="{7FB8B587-28F6-5B45-B69F-65D0A31FFCA2}" presName="connectorText" presStyleLbl="sibTrans2D1" presStyleIdx="1" presStyleCnt="2"/>
      <dgm:spPr/>
    </dgm:pt>
    <dgm:pt modelId="{B07BBD89-0D8D-E041-B8AC-A8386D055A83}" type="pres">
      <dgm:prSet presAssocID="{1593815E-435D-BD40-BC49-8DD690EBC3BD}" presName="node" presStyleLbl="node1" presStyleIdx="2" presStyleCnt="3" custScaleX="198358">
        <dgm:presLayoutVars>
          <dgm:bulletEnabled val="1"/>
        </dgm:presLayoutVars>
      </dgm:prSet>
      <dgm:spPr/>
    </dgm:pt>
  </dgm:ptLst>
  <dgm:cxnLst>
    <dgm:cxn modelId="{17192407-7E5B-8C45-826A-220DAF312C07}" type="presOf" srcId="{7FB8B587-28F6-5B45-B69F-65D0A31FFCA2}" destId="{AA466034-57C3-A541-A083-F2186881285C}" srcOrd="1" destOrd="0" presId="urn:microsoft.com/office/officeart/2005/8/layout/process1"/>
    <dgm:cxn modelId="{4ADDCD0F-1BC5-0544-B38B-B0FB529F9B14}" type="presOf" srcId="{840355EB-160E-664B-A082-088002E1D1EC}" destId="{AB9A4751-0F7B-EA43-B12B-F59398FC7B98}" srcOrd="0" destOrd="0" presId="urn:microsoft.com/office/officeart/2005/8/layout/process1"/>
    <dgm:cxn modelId="{6DDD7F1B-079D-914C-AEB1-3EFD5079BC99}" type="presOf" srcId="{9DDDB8CA-B222-6646-91B4-05EF55210F29}" destId="{382A8D5A-2DB1-9744-A903-A6C3DE603FB9}" srcOrd="0" destOrd="0" presId="urn:microsoft.com/office/officeart/2005/8/layout/process1"/>
    <dgm:cxn modelId="{7BCAB83D-93AC-4142-96D3-2752966CC78B}" type="presOf" srcId="{E5AB8E8C-5AC0-E34E-8578-1EF611A163B1}" destId="{B8F4FC52-647F-E148-8C09-E58035AEB7BB}" srcOrd="0" destOrd="0" presId="urn:microsoft.com/office/officeart/2005/8/layout/process1"/>
    <dgm:cxn modelId="{92322D45-9313-C243-BC18-0CB94F98BC11}" type="presOf" srcId="{0A385857-A6C1-6146-BC05-A0F55B8E38C4}" destId="{06E9D0A4-C24B-2A42-AF0F-E61C097CA79D}" srcOrd="0" destOrd="0" presId="urn:microsoft.com/office/officeart/2005/8/layout/process1"/>
    <dgm:cxn modelId="{3ECE9963-6A0C-0F45-A6FB-3B2AA647F16F}" srcId="{840355EB-160E-664B-A082-088002E1D1EC}" destId="{1593815E-435D-BD40-BC49-8DD690EBC3BD}" srcOrd="2" destOrd="0" parTransId="{0D45AECF-EB46-DA4C-BD83-E2859CD13B92}" sibTransId="{DAE93486-AC8B-4347-9362-80F7D460B566}"/>
    <dgm:cxn modelId="{F7F7CE64-55F6-124A-AD49-846D95337DE2}" srcId="{840355EB-160E-664B-A082-088002E1D1EC}" destId="{E5AB8E8C-5AC0-E34E-8578-1EF611A163B1}" srcOrd="0" destOrd="0" parTransId="{314161AD-2300-5A4C-BD66-F22D16B30EC2}" sibTransId="{0A385857-A6C1-6146-BC05-A0F55B8E38C4}"/>
    <dgm:cxn modelId="{896EECA0-D0BB-7540-B20E-280871A2E59C}" type="presOf" srcId="{0A385857-A6C1-6146-BC05-A0F55B8E38C4}" destId="{1FBDCBF2-5F3B-C243-8484-27644FE4C465}" srcOrd="1" destOrd="0" presId="urn:microsoft.com/office/officeart/2005/8/layout/process1"/>
    <dgm:cxn modelId="{1307E5C3-6160-C84A-B486-E990B6A153CC}" srcId="{840355EB-160E-664B-A082-088002E1D1EC}" destId="{9DDDB8CA-B222-6646-91B4-05EF55210F29}" srcOrd="1" destOrd="0" parTransId="{2A1B3798-D3D6-A244-A2ED-C3C9B14E5CEC}" sibTransId="{7FB8B587-28F6-5B45-B69F-65D0A31FFCA2}"/>
    <dgm:cxn modelId="{EB3B25DD-2BC7-4E4F-B4E6-619B9938ABA9}" type="presOf" srcId="{7FB8B587-28F6-5B45-B69F-65D0A31FFCA2}" destId="{03BF7104-CEB0-304F-96CD-CE74C058809B}" srcOrd="0" destOrd="0" presId="urn:microsoft.com/office/officeart/2005/8/layout/process1"/>
    <dgm:cxn modelId="{0E9F8CF1-5B9D-2C48-B68A-292B645D129A}" type="presOf" srcId="{1593815E-435D-BD40-BC49-8DD690EBC3BD}" destId="{B07BBD89-0D8D-E041-B8AC-A8386D055A83}" srcOrd="0" destOrd="0" presId="urn:microsoft.com/office/officeart/2005/8/layout/process1"/>
    <dgm:cxn modelId="{80094708-C998-074B-A43A-32A259EAB68F}" type="presParOf" srcId="{AB9A4751-0F7B-EA43-B12B-F59398FC7B98}" destId="{B8F4FC52-647F-E148-8C09-E58035AEB7BB}" srcOrd="0" destOrd="0" presId="urn:microsoft.com/office/officeart/2005/8/layout/process1"/>
    <dgm:cxn modelId="{6855F497-F5A3-2549-B95F-D532CBEC6206}" type="presParOf" srcId="{AB9A4751-0F7B-EA43-B12B-F59398FC7B98}" destId="{06E9D0A4-C24B-2A42-AF0F-E61C097CA79D}" srcOrd="1" destOrd="0" presId="urn:microsoft.com/office/officeart/2005/8/layout/process1"/>
    <dgm:cxn modelId="{E70A9A87-A007-1C41-BC89-1FDA96B6A6ED}" type="presParOf" srcId="{06E9D0A4-C24B-2A42-AF0F-E61C097CA79D}" destId="{1FBDCBF2-5F3B-C243-8484-27644FE4C465}" srcOrd="0" destOrd="0" presId="urn:microsoft.com/office/officeart/2005/8/layout/process1"/>
    <dgm:cxn modelId="{737472CE-9D08-A44F-880D-22AD2FAC5681}" type="presParOf" srcId="{AB9A4751-0F7B-EA43-B12B-F59398FC7B98}" destId="{382A8D5A-2DB1-9744-A903-A6C3DE603FB9}" srcOrd="2" destOrd="0" presId="urn:microsoft.com/office/officeart/2005/8/layout/process1"/>
    <dgm:cxn modelId="{F4AED877-CE64-414B-8DF0-F01FD788E40F}" type="presParOf" srcId="{AB9A4751-0F7B-EA43-B12B-F59398FC7B98}" destId="{03BF7104-CEB0-304F-96CD-CE74C058809B}" srcOrd="3" destOrd="0" presId="urn:microsoft.com/office/officeart/2005/8/layout/process1"/>
    <dgm:cxn modelId="{B65B9CE4-62B9-6340-A7C9-57AC42E4AF81}" type="presParOf" srcId="{03BF7104-CEB0-304F-96CD-CE74C058809B}" destId="{AA466034-57C3-A541-A083-F2186881285C}" srcOrd="0" destOrd="0" presId="urn:microsoft.com/office/officeart/2005/8/layout/process1"/>
    <dgm:cxn modelId="{8A0B00A3-08D0-1F49-95D7-500108A9DA13}" type="presParOf" srcId="{AB9A4751-0F7B-EA43-B12B-F59398FC7B98}" destId="{B07BBD89-0D8D-E041-B8AC-A8386D055A8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4FC52-647F-E148-8C09-E58035AEB7BB}">
      <dsp:nvSpPr>
        <dsp:cNvPr id="0" name=""/>
        <dsp:cNvSpPr/>
      </dsp:nvSpPr>
      <dsp:spPr>
        <a:xfrm>
          <a:off x="7528713" y="2015"/>
          <a:ext cx="1988224" cy="16418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>
              <a:latin typeface="Aharoni" panose="02010803020104030203" pitchFamily="2" charset="-79"/>
              <a:cs typeface="Aharoni" panose="02010803020104030203" pitchFamily="2" charset="-79"/>
            </a:rPr>
            <a:t>תכנון נגישות ומימוש הממשק</a:t>
          </a:r>
          <a:endParaRPr lang="en-US" sz="2400" kern="1200" dirty="0">
            <a:latin typeface="Aharoni" panose="02010803020104030203" pitchFamily="2" charset="-79"/>
            <a:cs typeface="Aharoni" panose="02010803020104030203" pitchFamily="2" charset="-79"/>
          </a:endParaRPr>
        </a:p>
      </dsp:txBody>
      <dsp:txXfrm>
        <a:off x="7576802" y="50104"/>
        <a:ext cx="1892046" cy="1545710"/>
      </dsp:txXfrm>
    </dsp:sp>
    <dsp:sp modelId="{06E9D0A4-C24B-2A42-AF0F-E61C097CA79D}">
      <dsp:nvSpPr>
        <dsp:cNvPr id="0" name=""/>
        <dsp:cNvSpPr/>
      </dsp:nvSpPr>
      <dsp:spPr>
        <a:xfrm rot="10800000">
          <a:off x="6908387" y="576420"/>
          <a:ext cx="421503" cy="4930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7034838" y="675036"/>
        <a:ext cx="295052" cy="295847"/>
      </dsp:txXfrm>
    </dsp:sp>
    <dsp:sp modelId="{382A8D5A-2DB1-9744-A903-A6C3DE603FB9}">
      <dsp:nvSpPr>
        <dsp:cNvPr id="0" name=""/>
        <dsp:cNvSpPr/>
      </dsp:nvSpPr>
      <dsp:spPr>
        <a:xfrm>
          <a:off x="4745199" y="2015"/>
          <a:ext cx="1988224" cy="16418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>
              <a:latin typeface="Aharoni" panose="02010803020104030203" pitchFamily="2" charset="-79"/>
              <a:cs typeface="Aharoni" panose="02010803020104030203" pitchFamily="2" charset="-79"/>
            </a:rPr>
            <a:t>עיצוב ובניית הממשק לפי הפרמטרים אותם נדרשנו לממש</a:t>
          </a:r>
          <a:endParaRPr lang="en-US" sz="2400" kern="1200" dirty="0">
            <a:latin typeface="Aharoni" panose="02010803020104030203" pitchFamily="2" charset="-79"/>
            <a:cs typeface="Aharoni" panose="02010803020104030203" pitchFamily="2" charset="-79"/>
          </a:endParaRPr>
        </a:p>
      </dsp:txBody>
      <dsp:txXfrm>
        <a:off x="4793288" y="50104"/>
        <a:ext cx="1892046" cy="1545710"/>
      </dsp:txXfrm>
    </dsp:sp>
    <dsp:sp modelId="{03BF7104-CEB0-304F-96CD-CE74C058809B}">
      <dsp:nvSpPr>
        <dsp:cNvPr id="0" name=""/>
        <dsp:cNvSpPr/>
      </dsp:nvSpPr>
      <dsp:spPr>
        <a:xfrm rot="10800000">
          <a:off x="4124873" y="576420"/>
          <a:ext cx="421503" cy="4930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4251324" y="675036"/>
        <a:ext cx="295052" cy="295847"/>
      </dsp:txXfrm>
    </dsp:sp>
    <dsp:sp modelId="{B07BBD89-0D8D-E041-B8AC-A8386D055A83}">
      <dsp:nvSpPr>
        <dsp:cNvPr id="0" name=""/>
        <dsp:cNvSpPr/>
      </dsp:nvSpPr>
      <dsp:spPr>
        <a:xfrm>
          <a:off x="6108" y="2015"/>
          <a:ext cx="3943801" cy="16418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>
              <a:latin typeface="Aharoni" panose="02010803020104030203" pitchFamily="2" charset="-79"/>
              <a:cs typeface="Aharoni" panose="02010803020104030203" pitchFamily="2" charset="-79"/>
            </a:rPr>
            <a:t>כתיבת קוד הממשק – החל מהגדרת הפרמטרים, כתיבת פונקציות המעטפת ומימוש פונקציות השינויים הרלוונטיים</a:t>
          </a:r>
          <a:endParaRPr lang="en-US" sz="2400" kern="1200" dirty="0">
            <a:latin typeface="Aharoni" panose="02010803020104030203" pitchFamily="2" charset="-79"/>
            <a:cs typeface="Aharoni" panose="02010803020104030203" pitchFamily="2" charset="-79"/>
          </a:endParaRPr>
        </a:p>
      </dsp:txBody>
      <dsp:txXfrm>
        <a:off x="54197" y="50104"/>
        <a:ext cx="3847623" cy="15457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88028-0CED-8F48-A528-E597087CB798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9E2AC-D25A-B143-9BA3-9D7BA058DD7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63551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9E2AC-D25A-B143-9BA3-9D7BA058DD7C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9811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4207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5534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6274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7665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164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17844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0162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2839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5183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704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6557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2E879-3750-A64D-99E6-5E63E222030C}" type="datetimeFigureOut">
              <a:rPr lang="en-IL" smtClean="0"/>
              <a:t>05/06/2025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38E71-3865-1F4B-BEAB-C9F7028E0B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080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29" r:id="rId10"/>
    <p:sldLayoutId id="2147484030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C748-E6BC-D566-C567-BC20A4270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099" y="1214438"/>
            <a:ext cx="9965802" cy="2387600"/>
          </a:xfrm>
        </p:spPr>
        <p:txBody>
          <a:bodyPr>
            <a:normAutofit fontScale="90000"/>
          </a:bodyPr>
          <a:lstStyle/>
          <a:p>
            <a:pPr rtl="1"/>
            <a:br>
              <a:rPr lang="he-IL" sz="5400" dirty="0">
                <a:solidFill>
                  <a:srgbClr val="F6A7E6"/>
                </a:solidFill>
                <a:latin typeface="Aharoni" panose="02010803020104030203" pitchFamily="2" charset="-79"/>
                <a:ea typeface="ADLaM Display" panose="02010000000000000000" pitchFamily="2" charset="77"/>
                <a:cs typeface="Aharoni" panose="02010803020104030203" pitchFamily="2" charset="-79"/>
              </a:rPr>
            </a:br>
            <a:r>
              <a:rPr lang="he-IL" sz="6600" b="1" dirty="0">
                <a:solidFill>
                  <a:srgbClr val="F6A7E6"/>
                </a:solidFill>
                <a:latin typeface="Aharoni" panose="02010803020104030203" pitchFamily="2" charset="-79"/>
                <a:ea typeface="ADLaM Display" panose="02010000000000000000" pitchFamily="2" charset="77"/>
                <a:cs typeface="Aharoni" panose="02010803020104030203" pitchFamily="2" charset="-79"/>
              </a:rPr>
              <a:t>פרויקט סוף </a:t>
            </a:r>
            <a:r>
              <a:rPr lang="en-US" sz="6600" b="1" dirty="0">
                <a:solidFill>
                  <a:srgbClr val="F6A7E6"/>
                </a:solidFill>
                <a:latin typeface="Aharoni" panose="02010803020104030203" pitchFamily="2" charset="-79"/>
                <a:ea typeface="ADLaM Display" panose="02010000000000000000" pitchFamily="2" charset="77"/>
                <a:cs typeface="Aharoni" panose="02010803020104030203" pitchFamily="2" charset="-79"/>
              </a:rPr>
              <a:t>MATLAB</a:t>
            </a:r>
            <a:br>
              <a:rPr lang="he-IL" sz="6600" b="1" dirty="0">
                <a:solidFill>
                  <a:srgbClr val="F6A7E6"/>
                </a:solidFill>
                <a:latin typeface="Aharoni" panose="02010803020104030203" pitchFamily="2" charset="-79"/>
                <a:ea typeface="ADLaM Display" panose="02010000000000000000" pitchFamily="2" charset="77"/>
                <a:cs typeface="Aharoni" panose="02010803020104030203" pitchFamily="2" charset="-79"/>
              </a:rPr>
            </a:br>
            <a:r>
              <a:rPr lang="he-IL" sz="5400" dirty="0">
                <a:solidFill>
                  <a:srgbClr val="F6A7E6"/>
                </a:solidFill>
                <a:latin typeface="Aharoni" panose="02010803020104030203" pitchFamily="2" charset="-79"/>
                <a:ea typeface="ADLaM Display" panose="02010000000000000000" pitchFamily="2" charset="77"/>
                <a:cs typeface="Aharoni" panose="02010803020104030203" pitchFamily="2" charset="-79"/>
              </a:rPr>
              <a:t>ממשק משתמש לאינטרקציה עם תמונות</a:t>
            </a:r>
            <a:endParaRPr lang="en-IL" sz="5400" dirty="0">
              <a:solidFill>
                <a:srgbClr val="F6A7E6"/>
              </a:solidFill>
              <a:latin typeface="Aharoni" panose="02010803020104030203" pitchFamily="2" charset="-79"/>
              <a:ea typeface="ADLaM Display" panose="02010000000000000000" pitchFamily="2" charset="77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2FB3D-4F99-703D-03DC-297A19AAC8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2800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עופר אביעוז, 212052385</a:t>
            </a:r>
            <a:endParaRPr lang="en-IL" sz="2800" dirty="0">
              <a:solidFill>
                <a:srgbClr val="F6A7E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12402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repeatCount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2B97-D66F-F012-450E-BE3D6CB40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5400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דרישות הפרויקט</a:t>
            </a:r>
            <a:endParaRPr lang="en-IL" sz="5400" dirty="0">
              <a:solidFill>
                <a:srgbClr val="F6A7E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51CE3-A0B6-16DC-9183-4C4F4B743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בפרויקט זה, הדרישה הייתה ליצור ממשק שיאפשר למשתמש לבחור תמונה, לערוך אותה בזמן אמת ואף לשמור את התוצאה המתקבלת</a:t>
            </a:r>
            <a: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למחשב. 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הממשק מאפשר למשתמש לשנות את בהירות התמונה, את ניגודיות התמונה, להבליט את גבולות התמונה ולהפוך את התמונה לשחור לבן במידה והיא בצבע. 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תוספות שהוספתי לממשק </a:t>
            </a:r>
            <a: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היפוך של התמונה – </a:t>
            </a:r>
            <a:r>
              <a:rPr lang="en-US" sz="2400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Mirroring</a:t>
            </a:r>
            <a:r>
              <a:rPr lang="he-IL" sz="2400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br>
              <a:rPr lang="en-US" sz="2400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חיתוך של התמונה – </a:t>
            </a:r>
            <a:r>
              <a:rPr lang="en-US" sz="2400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Crop</a:t>
            </a:r>
            <a: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he-IL" dirty="0">
              <a:solidFill>
                <a:srgbClr val="F6A7E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53975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5343-C026-A440-CD8B-897F6BFAF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0600"/>
            <a:ext cx="10515600" cy="4351338"/>
          </a:xfrm>
        </p:spPr>
        <p:txBody>
          <a:bodyPr/>
          <a:lstStyle/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בנוסף לפעולות הניתנות לביצוע באמצעות הממשק, 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יוצגו היסטוגרמות הערכים של פיקסלי התמונה. 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עבור תמונה צבעונית, יוצגו 3 היסגטוגרמות – כחול, אדום וירוק. 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עבור תמונה בשחור לבן, תוצג היסטוגרמה אחת בלבד של הצבע האפור.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למשל – 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n-IL" dirty="0">
              <a:solidFill>
                <a:srgbClr val="F6A7E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D2B47B-1696-5DEA-E460-581ED9E23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36199"/>
            <a:ext cx="7772400" cy="17044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994027-C2C7-F6AC-9806-6EEA3E1EF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987" y="4374012"/>
            <a:ext cx="3141945" cy="200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810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1BEC-F1A1-4865-0854-C1A18136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34"/>
            <a:ext cx="10515600" cy="1325563"/>
          </a:xfrm>
        </p:spPr>
        <p:txBody>
          <a:bodyPr>
            <a:normAutofit/>
          </a:bodyPr>
          <a:lstStyle/>
          <a:p>
            <a:pPr algn="r" rtl="1"/>
            <a:r>
              <a:rPr lang="he-IL" sz="5400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הגישה לפתרון </a:t>
            </a:r>
            <a:endParaRPr lang="en-IL" sz="5400" dirty="0">
              <a:solidFill>
                <a:srgbClr val="F6A7E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E8B47-D53F-E729-4E63-A2CB1689D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778" y="1140790"/>
            <a:ext cx="10515600" cy="4351338"/>
          </a:xfrm>
        </p:spPr>
        <p:txBody>
          <a:bodyPr/>
          <a:lstStyle/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על מנת לממש את הממשק, נדרש היה לתכנן את הפרויקט מכמה היבטים: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1. היבט ויזואלי – 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על הממשק להיות נוח לתפעול ע״י המשתמש הן מבחינת מיקום הלחצנים, סידורם, השליטה בהם והדרך בה הם פועלים ומשפיעים על התמונה והן מבחינת האופן הויזואלי בו מודגמת פעולת עיבוד התמונה.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2. היבט טכני – </a:t>
            </a:r>
            <a:br>
              <a:rPr lang="en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בכתיבת הקוד של הממשק, היה צורך להבין בדיוק מה התוצאה אותה נרצה לקבל במהלך עיבוד התמונה ע״י המשתמש ולתרגם זאת לקוד שיממש באופן מדויק (עד כמה שניתן) את הפעולות. 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he-IL" dirty="0">
              <a:solidFill>
                <a:srgbClr val="F6A7E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15B16C0-80A0-1227-74F5-F6D7B27DE5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5263199"/>
              </p:ext>
            </p:extLst>
          </p:nvPr>
        </p:nvGraphicFramePr>
        <p:xfrm>
          <a:off x="1420055" y="4894250"/>
          <a:ext cx="9523046" cy="1645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314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E1A3-1794-93FE-6220-A8E8C7A5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5400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קשיים שעלו במהלך מימוש הממשק</a:t>
            </a:r>
            <a:endParaRPr lang="en-IL" sz="5400" dirty="0">
              <a:solidFill>
                <a:srgbClr val="F6A7E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F794C-6936-E57E-1AC9-BCA167D6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הקושי הגדול ביותר במהלך המימוש היה הבנת הגבולות והערכים המדויקים ביותר לכל פונקציה שמבצעת פעולה כלשהי לעיבוד התמונה. 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לא תמיד (כמעט ובכלל לא) הפונקציות המובנות של </a:t>
            </a:r>
            <a:r>
              <a:rPr lang="en-US" sz="2400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matlab</a:t>
            </a: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היו אלו שנתנו את הפתרון הטוב ביותר עבור הממשק ולכן על מנת לדייק את הטווחים ולמקסם את התוצאות הרצויות בכדי שיענו על הדרישה – היה צורך לממש באופן ידני את הפעולות ולקבוע סט ערכים מתאים לכל אחת. 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מאחר והממשק מציג שינוי אינטראקטיבי בזמן אמת על התמונה אותה המשתמש בחר, היה צורך לוודא שהפרופורציות אכן נכונות ושאכן מתבצע ה״פילטר״ המתאים בעוצמה המתאימה לכל סולמות הערכים בממשק. </a:t>
            </a:r>
            <a:br>
              <a:rPr lang="en-US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לכן, היו לא מעט ניסויים וטעיות ( וגם לא מעט תהיות :) ) עד לפיצוח הנוסחה המדויקת ביותר לשביעות רצוני ולמענה מיטבי על הדרישות. </a:t>
            </a:r>
            <a:endParaRPr lang="en-IL" dirty="0">
              <a:solidFill>
                <a:srgbClr val="F6A7E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3779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10B8-538E-28F6-9D93-BA0B7A5E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345" y="132117"/>
            <a:ext cx="10515600" cy="1325563"/>
          </a:xfrm>
        </p:spPr>
        <p:txBody>
          <a:bodyPr/>
          <a:lstStyle/>
          <a:p>
            <a:pPr algn="r" rtl="1"/>
            <a:r>
              <a:rPr lang="he-IL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נראות הממשק </a:t>
            </a:r>
            <a:endParaRPr lang="en-IL" dirty="0">
              <a:solidFill>
                <a:srgbClr val="F6A7E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6B4397-1063-39F9-D7FC-0E924F9DB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69" y="681037"/>
            <a:ext cx="7635976" cy="565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916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92CB1-2C62-736E-C082-0C15C6AD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he-IL" sz="6000" dirty="0">
                <a:solidFill>
                  <a:srgbClr val="F6A7E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תודה רבה על ההקשבה (: </a:t>
            </a:r>
            <a:endParaRPr lang="en-IL" sz="6000" dirty="0">
              <a:solidFill>
                <a:srgbClr val="F6A7E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6" name="Content Placeholder 1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08BC3546-5863-0F5F-07B7-5D318EA7A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5932" y="2331340"/>
            <a:ext cx="5740135" cy="3444081"/>
          </a:xfrm>
        </p:spPr>
      </p:pic>
    </p:spTree>
    <p:extLst>
      <p:ext uri="{BB962C8B-B14F-4D97-AF65-F5344CB8AC3E}">
        <p14:creationId xmlns:p14="http://schemas.microsoft.com/office/powerpoint/2010/main" val="2458917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</TotalTime>
  <Words>401</Words>
  <Application>Microsoft Macintosh PowerPoint</Application>
  <PresentationFormat>Widescreen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Aharoni</vt:lpstr>
      <vt:lpstr>Aptos</vt:lpstr>
      <vt:lpstr>Arial</vt:lpstr>
      <vt:lpstr>Calibri</vt:lpstr>
      <vt:lpstr>Calibri Light</vt:lpstr>
      <vt:lpstr>Office 2013 - 2022 Theme</vt:lpstr>
      <vt:lpstr> פרויקט סוף MATLAB ממשק משתמש לאינטרקציה עם תמונות</vt:lpstr>
      <vt:lpstr>דרישות הפרויקט</vt:lpstr>
      <vt:lpstr>PowerPoint Presentation</vt:lpstr>
      <vt:lpstr>הגישה לפתרון </vt:lpstr>
      <vt:lpstr>קשיים שעלו במהלך מימוש הממשק</vt:lpstr>
      <vt:lpstr>נראות הממשק </vt:lpstr>
      <vt:lpstr>תודה רבה על ההקשבה (: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עופר אביעוז</dc:creator>
  <cp:lastModifiedBy>עופר אביעוז</cp:lastModifiedBy>
  <cp:revision>3</cp:revision>
  <dcterms:created xsi:type="dcterms:W3CDTF">2025-06-04T11:15:54Z</dcterms:created>
  <dcterms:modified xsi:type="dcterms:W3CDTF">2025-06-05T11:27:03Z</dcterms:modified>
</cp:coreProperties>
</file>